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Big Data Analytics  |  Taibah University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TAIBAH UNIVERSITY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Big Data Analytics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Real-time Detection of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Arabic Text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Data Pipeline Approach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Defense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137160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Architecture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Preprocessing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292608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292608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Results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617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Deployment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9120" y="44805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4617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Benchmarks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21040" y="44805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0" y="4617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Arabic AI-Text Detection Matters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18288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Arabic web content can plausibly be generated by modern LLMs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86400" cy="18288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LLMs cover the Arabic landscape (ALLaM, Jais, Llama, OpenAI)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486400" cy="18288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required by journals, search engines, social platforms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486400" cy="1828800"/>
          </a:xfrm>
          <a:prstGeom prst="rect">
            <a:avLst>
              <a:gd name="adj" fmla="val 5000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48006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features available - we use 3 (instructor-approved)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KFUPM-JRCAI/arabic-generated-abstracts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Arabic AI-vs-Human academic abstract corpus  -  Hugging Face 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51760" cy="1188720"/>
          </a:xfrm>
          <a:prstGeom prst="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651760" cy="1188720"/>
          </a:xfrm>
          <a:prstGeom prst="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41,940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samples (long format)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651760" cy="1188720"/>
          </a:xfrm>
          <a:prstGeom prst="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compared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194560"/>
            <a:ext cx="2651760" cy="1188720"/>
          </a:xfrm>
          <a:prstGeom prst="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5256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methods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65196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by_polishing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rewrites human abstracts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from_title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generates from title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from_title_and_content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generates from title + paper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9" name="Image 0" descr="/home/claude/arabic_nlp_project/reports/figure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120640"/>
            <a:ext cx="3474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Kappa-Style Pipeline: Same Code, Batch + Streaming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0829" y="2743200"/>
            <a:ext cx="274320" cy="5486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0869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0869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Parquet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5937" y="2743200"/>
            <a:ext cx="274320" cy="5486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5977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5977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 Preproc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01046" y="2743200"/>
            <a:ext cx="274320" cy="5486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1086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1086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Stats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6154" y="2743200"/>
            <a:ext cx="274320" cy="5486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6194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6194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71263" y="2743200"/>
            <a:ext cx="274320" cy="5486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1303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1303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56371" y="2743200"/>
            <a:ext cx="274320" cy="548640"/>
          </a:xfrm>
          <a:prstGeom prst="rightTriangl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76411" y="2286000"/>
            <a:ext cx="1319349" cy="1463040"/>
          </a:xfrm>
          <a:prstGeom prst="roundRect">
            <a:avLst>
              <a:gd name="adj" fmla="val 6931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76411" y="2286000"/>
            <a:ext cx="131934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Kafka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42062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HDFS, S3, Parquet (Snappy)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47091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3.5, Hadoop MapReduce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5212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52120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(LR, RF, GBT)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5715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57150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Streaming, Kafka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Arabic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UDFs for Arabic-specific NLP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Normalization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 إ آ → 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9659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 Maqsura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ى → 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 Marbuta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ة → ه (word-end)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178308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19659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1041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Tashkeel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Diacritics removed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Non-Arabic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Arabic Unicode only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35661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749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5196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+ extended list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5661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780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 Stemming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roots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235440" y="35661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8320" y="3749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10412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Parquet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4183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Snappy compressed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41,454 cleaned &amp; stemmed records → HDFS Parquet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Stylometric Features + 10,000-dim TF-IDF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Words Ratio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≤ 3 chars / total 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Physical Lines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non-empty 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392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Letters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2926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non-Arabic alphabetic chars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TF-IDF (Spark MLlib)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RegexTokenizer → HashingTF (10k features) → IDF</a:t>
            </a:r>
            <a:endParaRPr lang="en-US" sz="1300" dirty="0"/>
          </a:p>
        </p:txBody>
      </p:sp>
      <p:pic>
        <p:nvPicPr>
          <p:cNvPr id="19" name="Image 0" descr="/home/claude/arabic_nlp_project/reports/figures/03_stylometric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0"/>
            <a:ext cx="11274552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Spark MLlib Classifiers, Stratified 70/15/15 Split</a:t>
            </a:r>
            <a:endParaRPr lang="en-US" sz="1600" dirty="0"/>
          </a:p>
        </p:txBody>
      </p:sp>
      <p:pic>
        <p:nvPicPr>
          <p:cNvPr id="5" name="Image 0" descr="/home/claude/arabic_nlp_project/reports/figures/05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486400" cy="2743200"/>
          </a:xfrm>
          <a:prstGeom prst="rect">
            <a:avLst/>
          </a:prstGeom>
        </p:spPr>
      </p:pic>
      <p:pic>
        <p:nvPicPr>
          <p:cNvPr id="6" name="Image 1" descr="/home/claude/arabic_nlp_project/reports/figures/04_confusion_matr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852160" cy="27432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73352"/>
                <a:gridCol w="1673352"/>
                <a:gridCol w="1673352"/>
                <a:gridCol w="25968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Gradient-Boosted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164.0s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 -  100.0% accuracy in 7.7 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+ Kafka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 topic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drop)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971800" y="18288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UDFs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TF-IDF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(saved model)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955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0515600" y="1828800"/>
            <a:ext cx="2194560" cy="1645920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Parquet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(checkpointed)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interval: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931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modes: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0" y="3931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Kafka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46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sinks: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0" y="48463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Parquet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846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48463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sec end-to-end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Benchmark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Runtime vs Spark Parallelism</a:t>
            </a:r>
            <a:endParaRPr lang="en-US" sz="1800" dirty="0"/>
          </a:p>
        </p:txBody>
      </p:sp>
      <p:pic>
        <p:nvPicPr>
          <p:cNvPr id="5" name="Image 0" descr="/home/claude/arabic_nlp_project/reports/figures/09_sca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11274552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speedup is expected at this dataset size (~41k rows). Per-stage shuffle/serialization dominates. On a million-row workload, scaling would be much closer to linear.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 Job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 Statistics via Two-stage M/R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(WORD, w,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(BIGRAM, w_i+w_{i+1}, 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 groups identical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together (auto)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286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counts per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(key, total)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Statistics (post-Reduce):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297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 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bigrams: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 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Type-Token Ratio: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5212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(high redundancy in stems)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Hapax Legomena: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5669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(all words ≥ 2 occurrences)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Arabic Terms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stemmed words extracted via MapReduce</a:t>
            </a:r>
            <a:endParaRPr lang="en-US" sz="1400" dirty="0"/>
          </a:p>
        </p:txBody>
      </p:sp>
      <p:pic>
        <p:nvPicPr>
          <p:cNvPr id="5" name="Image 0" descr="/home/claude/arabic_nlp_project/reports/figures/07_top_w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943600" cy="4572000"/>
          </a:xfrm>
          <a:prstGeom prst="rect">
            <a:avLst/>
          </a:prstGeom>
        </p:spPr>
      </p:pic>
      <p:pic>
        <p:nvPicPr>
          <p:cNvPr id="6" name="Image 1" descr="/home/claude/arabic_nlp_project/reports/figures/08_word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52120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Big Data pipeline: HDFS → Spark UDFs → MLlib → Streaming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Spark MLlib classifiers, all &gt;100.0% F1 on test 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via Spark Structured Streaming + Kafka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 job for distributed corpus statistics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GitHub repository, documented for CentOS deployment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Stanza/Farasa Arabic NLP across executors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fine-tuned AraBERT served as a remote model in the streaming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testing: train on by_polishing, test on from_title and vice-versa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local[*] to YARN/K8s with 8+ executors for true scale-out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88952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Big Data Analytics  |  Taibah University  |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Real-time Detection of AI-Generated Arabic Text</dc:title>
  <dc:subject>PptxGenJS Presentation</dc:subject>
  <dc:creator>Taibah University - MSBDA-801</dc:creator>
  <cp:lastModifiedBy>Taibah University - MSBDA-801</cp:lastModifiedBy>
  <cp:revision>1</cp:revision>
  <dcterms:created xsi:type="dcterms:W3CDTF">2026-05-07T00:23:53Z</dcterms:created>
  <dcterms:modified xsi:type="dcterms:W3CDTF">2026-05-07T00:23:53Z</dcterms:modified>
</cp:coreProperties>
</file>