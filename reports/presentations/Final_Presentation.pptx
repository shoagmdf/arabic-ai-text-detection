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6340" autoAdjust="0"/>
  </p:normalViewPr>
  <p:slideViewPr>
    <p:cSldViewPr snapToGrid="0" snapToObjects="1">
      <p:cViewPr>
        <p:scale>
          <a:sx n="81" d="100"/>
          <a:sy n="81" d="100"/>
        </p:scale>
        <p:origin x="1498" y="-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 (s)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core</c:v>
                </c:pt>
                <c:pt idx="1">
                  <c:v>2 cores</c:v>
                </c:pt>
                <c:pt idx="2">
                  <c:v>3 cores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288.60000000000002</c:v>
                </c:pt>
                <c:pt idx="1">
                  <c:v>180.4</c:v>
                </c:pt>
                <c:pt idx="2">
                  <c:v>185.3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16-4745-986D-78A0DECBF56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0"/>
          <c:min val="15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632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السلام عليكم ورحمة الله، أُقدّم اليوم مشروع كشف النصوص العربيّة المُولَّدة بالذكاء الاصطناعي باستخدام منظومة بيانات ضخمة موزَّعة.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اللغة </a:t>
            </a:r>
            <a:r>
              <a:rPr lang="en-US" dirty="0" err="1"/>
              <a:t>العربيّة</a:t>
            </a:r>
            <a:r>
              <a:rPr lang="en-US" dirty="0"/>
              <a:t> </a:t>
            </a:r>
            <a:r>
              <a:rPr lang="ar-SA" dirty="0"/>
              <a:t>تحتوي على</a:t>
            </a:r>
            <a:r>
              <a:rPr lang="en-US" dirty="0"/>
              <a:t> </a:t>
            </a:r>
            <a:r>
              <a:rPr lang="en-US" dirty="0" err="1"/>
              <a:t>أدوات</a:t>
            </a:r>
            <a:r>
              <a:rPr lang="ar-SA" dirty="0"/>
              <a:t> أقل في</a:t>
            </a:r>
            <a:r>
              <a:rPr lang="en-US" dirty="0"/>
              <a:t> كشف النصوص الآليّة مقارنة بالإنجليزية، رغم أهميّة ذلك للنزاهة الأكاديميّة وموثوقيّة </a:t>
            </a:r>
            <a:r>
              <a:rPr lang="en-US" dirty="0" err="1"/>
              <a:t>المحتوى</a:t>
            </a:r>
            <a:r>
              <a:rPr lang="en-US" dirty="0"/>
              <a:t> </a:t>
            </a:r>
            <a:r>
              <a:rPr lang="en-US" dirty="0" err="1"/>
              <a:t>لذلك</a:t>
            </a:r>
            <a:r>
              <a:rPr lang="en-US" dirty="0"/>
              <a:t> </a:t>
            </a:r>
            <a:r>
              <a:rPr lang="en-US" dirty="0" err="1"/>
              <a:t>نحتاج</a:t>
            </a:r>
            <a:r>
              <a:rPr lang="en-US" dirty="0"/>
              <a:t> </a:t>
            </a:r>
            <a:r>
              <a:rPr lang="ar-SA"/>
              <a:t>نظام </a:t>
            </a:r>
            <a:r>
              <a:rPr lang="en-US"/>
              <a:t>موزَّعاً</a:t>
            </a:r>
            <a:r>
              <a:rPr lang="ar-SA"/>
              <a:t> </a:t>
            </a:r>
            <a:r>
              <a:rPr lang="en-US"/>
              <a:t> </a:t>
            </a:r>
            <a:r>
              <a:rPr lang="en-US" dirty="0"/>
              <a:t>يتعامل مع الحجم الكبير.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بنيتُ بيئة موزَّعة على CentOS تتضمّن Hadoop وSpark وKafka وZeppelin، ثم حمّلتُ مجموعة بيانات KFUPM-JRCAI المكوَّنة من ٨٬٣٨٨ ورقة بحثيّة وخزّنتُها في HDFS بصيغة Parquet مضغوطة، واستكشفتُها مبدئيّاً عبر دفاتر Zeppelin التفاعليّة.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صمّمتُ</a:t>
            </a:r>
            <a:r>
              <a:rPr lang="en-US" dirty="0"/>
              <a:t> </a:t>
            </a:r>
            <a:r>
              <a:rPr lang="en-US" dirty="0" err="1"/>
              <a:t>خطّ</a:t>
            </a:r>
            <a:r>
              <a:rPr lang="en-US" dirty="0"/>
              <a:t> </a:t>
            </a:r>
            <a:r>
              <a:rPr lang="en-US" dirty="0" err="1"/>
              <a:t>معالجة</a:t>
            </a:r>
            <a:r>
              <a:rPr lang="en-US" dirty="0"/>
              <a:t> </a:t>
            </a:r>
            <a:r>
              <a:rPr lang="en-US" dirty="0" err="1"/>
              <a:t>عربيّاً</a:t>
            </a:r>
            <a:r>
              <a:rPr lang="en-US" dirty="0"/>
              <a:t> </a:t>
            </a:r>
            <a:r>
              <a:rPr lang="en-US" dirty="0" err="1"/>
              <a:t>مكوَّناً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خمس</a:t>
            </a:r>
            <a:r>
              <a:rPr lang="en-US" dirty="0"/>
              <a:t> </a:t>
            </a:r>
            <a:r>
              <a:rPr lang="en-US" dirty="0" err="1"/>
              <a:t>خطوات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Spark </a:t>
            </a:r>
            <a:endParaRPr lang="ar-SA" dirty="0"/>
          </a:p>
          <a:p>
            <a:r>
              <a:rPr lang="en-US" dirty="0"/>
              <a:t>— </a:t>
            </a:r>
            <a:r>
              <a:rPr lang="en-US" dirty="0" err="1"/>
              <a:t>توحيد</a:t>
            </a:r>
            <a:r>
              <a:rPr lang="en-US" dirty="0"/>
              <a:t> </a:t>
            </a:r>
            <a:r>
              <a:rPr lang="en-US" dirty="0" err="1"/>
              <a:t>الحروف</a:t>
            </a:r>
            <a:r>
              <a:rPr lang="en-US" dirty="0"/>
              <a:t>، </a:t>
            </a:r>
            <a:r>
              <a:rPr lang="en-US" dirty="0" err="1"/>
              <a:t>إزالة</a:t>
            </a:r>
            <a:r>
              <a:rPr lang="en-US" dirty="0"/>
              <a:t> </a:t>
            </a:r>
            <a:r>
              <a:rPr lang="en-US" dirty="0" err="1"/>
              <a:t>التشكيل</a:t>
            </a:r>
            <a:r>
              <a:rPr lang="en-US" dirty="0"/>
              <a:t>، </a:t>
            </a:r>
            <a:r>
              <a:rPr lang="en-US" dirty="0" err="1"/>
              <a:t>التجذير</a:t>
            </a:r>
            <a:r>
              <a:rPr lang="en-US" dirty="0"/>
              <a:t> ISRI، </a:t>
            </a:r>
            <a:r>
              <a:rPr lang="en-US" dirty="0" err="1"/>
              <a:t>والتنقية</a:t>
            </a:r>
            <a:endParaRPr lang="ar-SA" dirty="0"/>
          </a:p>
          <a:p>
            <a:r>
              <a:rPr lang="en-US" dirty="0"/>
              <a:t> — </a:t>
            </a:r>
            <a:r>
              <a:rPr lang="en-US" dirty="0" err="1"/>
              <a:t>ليُنتج</a:t>
            </a:r>
            <a:r>
              <a:rPr lang="en-US" dirty="0"/>
              <a:t> ٣٦٬٥٢٤ </a:t>
            </a:r>
            <a:r>
              <a:rPr lang="en-US" dirty="0" err="1"/>
              <a:t>عيّنة</a:t>
            </a:r>
            <a:r>
              <a:rPr lang="en-US" dirty="0"/>
              <a:t> </a:t>
            </a:r>
            <a:r>
              <a:rPr lang="en-US" dirty="0" err="1"/>
              <a:t>نظيفة</a:t>
            </a:r>
            <a:r>
              <a:rPr lang="en-US" dirty="0"/>
              <a:t> </a:t>
            </a:r>
            <a:r>
              <a:rPr lang="en-US" dirty="0" err="1"/>
              <a:t>بنسبة</a:t>
            </a:r>
            <a:r>
              <a:rPr lang="en-US" dirty="0"/>
              <a:t> </a:t>
            </a:r>
            <a:endParaRPr lang="ar-SA" dirty="0"/>
          </a:p>
          <a:p>
            <a:r>
              <a:rPr lang="en-US" dirty="0"/>
              <a:t>1:11.2.</a:t>
            </a:r>
            <a:r>
              <a:rPr lang="ar-SA" dirty="0"/>
              <a:t>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نفّذتُ مهمّة MapReduce ذكيّة بمراحل (Mapper → Sort → Reducer) تستخرج </a:t>
            </a:r>
            <a:r>
              <a:rPr lang="en-US" dirty="0" err="1"/>
              <a:t>إحصائيّات</a:t>
            </a:r>
            <a:r>
              <a:rPr lang="en-US" dirty="0"/>
              <a:t> </a:t>
            </a:r>
            <a:r>
              <a:rPr lang="en-US" dirty="0" err="1"/>
              <a:t>كلّ</a:t>
            </a:r>
            <a:endParaRPr lang="ar-SA" dirty="0"/>
          </a:p>
          <a:p>
            <a:r>
              <a:rPr lang="en-US" dirty="0"/>
              <a:t> فئة في مرور واحد، وكشفت أنّ نصّ AI يستخدم مفردات أقلّ تنوّعاً بنسبة ١٫٦٨ </a:t>
            </a:r>
            <a:r>
              <a:rPr lang="en-US" dirty="0" err="1"/>
              <a:t>مرّة</a:t>
            </a:r>
            <a:r>
              <a:rPr lang="en-US" dirty="0"/>
              <a:t>.</a:t>
            </a:r>
            <a:endParaRPr lang="ar-SA" dirty="0"/>
          </a:p>
          <a:p>
            <a:r>
              <a:rPr lang="ar-SA" b="1" dirty="0"/>
              <a:t>1. </a:t>
            </a:r>
            <a:r>
              <a:rPr lang="en-US" b="1" dirty="0"/>
              <a:t>Total tokens (9.9×):</a:t>
            </a:r>
            <a:r>
              <a:rPr lang="en-US" dirty="0"/>
              <a:t> </a:t>
            </a:r>
            <a:r>
              <a:rPr lang="ar-SA" dirty="0"/>
              <a:t>الذكاء يُطيل النص بإفراط.</a:t>
            </a:r>
          </a:p>
          <a:p>
            <a:r>
              <a:rPr lang="ar-SA" b="1" dirty="0"/>
              <a:t>2. </a:t>
            </a:r>
            <a:r>
              <a:rPr lang="en-US" b="1" dirty="0"/>
              <a:t>TTR (−4.7%):</a:t>
            </a:r>
            <a:r>
              <a:rPr lang="en-US" dirty="0"/>
              <a:t> </a:t>
            </a:r>
            <a:r>
              <a:rPr lang="ar-SA" dirty="0"/>
              <a:t>البشر أغنى مفردات معجمية.</a:t>
            </a:r>
          </a:p>
          <a:p>
            <a:r>
              <a:rPr lang="ar-SA" b="1" dirty="0"/>
              <a:t>3. </a:t>
            </a:r>
            <a:r>
              <a:rPr lang="en-US" b="1" dirty="0"/>
              <a:t>Hapax % (1.68× </a:t>
            </a:r>
            <a:r>
              <a:rPr lang="ar-SA" b="1" dirty="0"/>
              <a:t>أقل):</a:t>
            </a:r>
            <a:r>
              <a:rPr lang="ar-SA" dirty="0"/>
              <a:t> الذكاء يكرر، البشر يبتكرون.</a:t>
            </a:r>
          </a:p>
          <a:p>
            <a:r>
              <a:rPr lang="ar-SA" b="1" dirty="0"/>
              <a:t>4. </a:t>
            </a:r>
            <a:r>
              <a:rPr lang="en-US" b="1" dirty="0"/>
              <a:t>Unique bigrams (3.78×):</a:t>
            </a:r>
            <a:r>
              <a:rPr lang="ar-SA" b="1" dirty="0"/>
              <a:t> لبشر أكثف تنوعاً تركيبياً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استخرجتُ خمس ميزات أسلوبية موزّعة عبر 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Spark UDFs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دمجتُ هذه الميزات مع تمثيل 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TF-IDF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مضغوط إلى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10,000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بُعد عبر أداة </a:t>
            </a:r>
            <a:r>
              <a:rPr lang="en-US" b="1" dirty="0" err="1">
                <a:solidFill>
                  <a:srgbClr val="1F1F1F"/>
                </a:solidFill>
                <a:effectLst/>
                <a:latin typeface="Google Sans Text"/>
              </a:rPr>
              <a:t>HashingTF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آلية العمل: يقوم </a:t>
            </a:r>
            <a:r>
              <a:rPr lang="en-US" b="1" dirty="0" err="1">
                <a:solidFill>
                  <a:srgbClr val="1F1F1F"/>
                </a:solidFill>
                <a:effectLst/>
                <a:latin typeface="Google Sans Text"/>
              </a:rPr>
              <a:t>HashingTF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بتحويل الكلمات مباشرة إلى مواقع ثابتة في الذاكرة عبر دالة 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Hash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،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بدلاً من بناء قاموس مفردات تقليدي وضخم.</a:t>
            </a:r>
          </a:p>
          <a:p>
            <a:pPr algn="r" rtl="1">
              <a:buNone/>
            </a:pPr>
            <a:r>
              <a:rPr lang="ar-SA" b="1" dirty="0">
                <a:solidFill>
                  <a:srgbClr val="1F1F1F"/>
                </a:solidFill>
                <a:effectLst/>
                <a:latin typeface="Google Sans"/>
              </a:rPr>
              <a:t>أيضا وجدنا انه: </a:t>
            </a:r>
          </a:p>
          <a:p>
            <a:pPr algn="r" rtl="1">
              <a:buNone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النصوص المولّدة بالذكاء الاصطناعي: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تحتوي على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64%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أكثر من الجمل المبنية للمعلوم مقارنة بالكتابة البشرية.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النصوص البشرية: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تحتوي على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48%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أكثر من تكرار الثنائيات اللغوية (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Bigrams)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مقارنة بالذكاء الاصطناعي.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تم الاعتماد على مكتبة  </a:t>
            </a:r>
            <a:r>
              <a:rPr lang="en-US" b="1" dirty="0"/>
              <a:t>Spark </a:t>
            </a:r>
            <a:r>
              <a:rPr lang="en-US" b="1" dirty="0" err="1"/>
              <a:t>MLlib</a:t>
            </a:r>
            <a:r>
              <a:rPr lang="en-US" dirty="0"/>
              <a:t> </a:t>
            </a:r>
            <a:r>
              <a:rPr lang="ar-SA" dirty="0"/>
              <a:t>لبناء خطوط معالجة وتدريب النماذج (</a:t>
            </a:r>
            <a:r>
              <a:rPr lang="en-US" b="1" dirty="0"/>
              <a:t>ML Pipelines</a:t>
            </a:r>
            <a:r>
              <a:rPr lang="en-US" dirty="0"/>
              <a:t>) </a:t>
            </a:r>
            <a:r>
              <a:rPr lang="ar-SA" dirty="0"/>
              <a:t>بشكل موّزع بالكامل.</a:t>
            </a:r>
            <a:endParaRPr lang="ar-SA" b="1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المصنف الفائز: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تفوق نموذج 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Logistic Regression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محققاً أعلى أداء بين النماذج الثلاثة.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مقاييس الأداء الافتراضية: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* حقق النموذج دقة إجمالية (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Accuracy)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تصل إلى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96.55%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حقق مقياس متوازن للاستدعاء والدقة (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F1-Score)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بنسبة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96.36%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كفاءة وسرعة التدريب: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* تميز النموذج بسرعته الفائقة، حيث كان أسرع بمقدار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12.3 مرة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مقارنة بنموذج 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GBT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 (Gradient-Boosted Trees).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سلوك النماذج الأخرى:</a:t>
            </a:r>
            <a:endParaRPr lang="ar-SA" dirty="0">
              <a:solidFill>
                <a:srgbClr val="1F1F1F"/>
              </a:solidFill>
              <a:effectLst/>
              <a:latin typeface="Google Sans Text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انهار نموذج الغابة العشوائية (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Random Forest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)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تماماً عند تصنيف الفئة الأقلية (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Minority Class)،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نظراً للاختلال الطبيعي في توزيع البيانات.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تم نشر النموذج بنجاح داخل بيئة إنتاجية حية باستخدام تطبيق 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Spark Structured Streaming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  <a:endParaRPr lang="ar-SA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r" rtl="1">
              <a:buFont typeface="Arial" panose="020B0604020202020204" pitchFamily="34" charset="0"/>
              <a:buNone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يقوم تطبيق 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Spark Structured Streaming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بسحب البيانات من </a:t>
            </a:r>
            <a:r>
              <a:rPr lang="ar-SA" dirty="0" err="1">
                <a:solidFill>
                  <a:srgbClr val="1F1F1F"/>
                </a:solidFill>
                <a:effectLst/>
                <a:latin typeface="Google Sans Text"/>
              </a:rPr>
              <a:t>كافكا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وتمريرها للنموذج لتصنيفها بشكل دوري كل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5 ثوانٍ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محققاً زمن استجابة 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Latency)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سريع جداً لا يتعدى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4.2 ثانية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فقط للدورة الواحدة.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حفظ المخرجات: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يتم تخزين جميع البيانات المصنفة والمخرجات النهائية بكفاءة عالية في مجلدات مستهدفة بصيغة 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Parquet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المضغوطة والمثالية للبيانات الضخمة.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اختبار التوسع وقانون أمدال (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Scalability &amp; Amdahl’s Law):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 *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عند إجراء اختبار التوسع الفعلي للنظام ورصد تأثير زيادة الموارد، حقق النظام تسريعاً (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Speedup)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بمقدار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$1.60\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times$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عند تخصيص نواتين (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2 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Cores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).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توقفت الاستفادة الفعلية من التوازي تماماً عند إضافة النواة الثالثة (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3 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Cores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)،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وهو ما يمثل تطبيقاً عملياً دقيقاً وظهوراً صريحاً لتشبع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قانون أمدال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تم التحقق من كفاءة وتعميم النموذج الأفضل باستخدام عينة اختبار ضخمة ومستقلة بلغت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5,326 </a:t>
            </a:r>
            <a:r>
              <a:rPr lang="ar-SA" b="1" dirty="0" err="1">
                <a:solidFill>
                  <a:srgbClr val="1F1F1F"/>
                </a:solidFill>
                <a:effectLst/>
                <a:latin typeface="Google Sans Text"/>
              </a:rPr>
              <a:t>ريكورد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المقاييس الإجمالية للأداء:</a:t>
            </a:r>
            <a:endParaRPr lang="ar-SA" dirty="0">
              <a:solidFill>
                <a:srgbClr val="1F1F1F"/>
              </a:solidFill>
              <a:effectLst/>
              <a:latin typeface="Google Sans Text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حقق النموذج مساحة تحت منحنى الخصائص (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ROC-AUC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)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بلغت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98.61%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، مما يثبت قدرته العالية جداً على الفصل بين الفئات ككل.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حقق النموذج مقياس 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F1-Score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عام وممتاز بنسبة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96.36%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تحليل الفئات والمصارحة العلمية (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Per-Class Analysis):</a:t>
            </a:r>
            <a:endParaRPr lang="en-US" dirty="0">
              <a:solidFill>
                <a:srgbClr val="1F1F1F"/>
              </a:solidFill>
              <a:effectLst/>
              <a:latin typeface="Google Sans Text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نقطة الضعف المرصودة: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أظهر النموذج انخفاضاً في قدرة الاسترجاع (</a:t>
            </a:r>
            <a:r>
              <a:rPr lang="en-US" b="1" dirty="0">
                <a:solidFill>
                  <a:srgbClr val="1F1F1F"/>
                </a:solidFill>
                <a:effectLst/>
                <a:latin typeface="Google Sans Text"/>
              </a:rPr>
              <a:t>Recall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)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للفئة البشرية (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Minority Class) 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حيث بلغت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68.4%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اكتشفنا أن 8 من أعلى 10 عبارات تكراراً هي ترجمات لقوالب أكاديمية إنجليزية وهذا يثبت 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LLMs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تعاني من مشكلة "التفكير بالإنجليزية والترجمة للعربية" عند صياغة الأبحاث، وهو ما يمنح بحثك بصمة فريدة جداً في مجال التحليل الأسلوبي 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Stylometric Analysis.</a:t>
            </a:r>
          </a:p>
          <a:p>
            <a:pPr algn="r" rtl="1">
              <a:buNone/>
            </a:pPr>
            <a:r>
              <a:rPr lang="ar-SA" b="1" dirty="0">
                <a:solidFill>
                  <a:srgbClr val="1F1F1F"/>
                </a:solidFill>
                <a:effectLst/>
                <a:latin typeface="Google Sans"/>
              </a:rPr>
              <a:t>أبرز الاكتشافات البحثية والمساهمة العلمية</a:t>
            </a:r>
            <a:r>
              <a:rPr lang="en-US" b="1" dirty="0">
                <a:solidFill>
                  <a:srgbClr val="1F1F1F"/>
                </a:solidFill>
                <a:effectLst/>
                <a:latin typeface="Google Sans"/>
              </a:rPr>
              <a:t>Key Findings)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المؤشر الإحصائي الأعلى: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تبين أن العبارة الحرفية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«متوقّع أن»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تظهر في النصوص المولّدة بالذكاء الاصطناعي بمعدل ضخم جداً يصل إلى </a:t>
            </a:r>
            <a:r>
              <a:rPr lang="ar-SA" b="1" dirty="0">
                <a:solidFill>
                  <a:srgbClr val="1F1F1F"/>
                </a:solidFill>
                <a:effectLst/>
                <a:latin typeface="Google Sans Text"/>
              </a:rPr>
              <a:t>304.8 مرة أكثر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 مقارنة بالنصوص التي كتبها البشر.</a:t>
            </a:r>
          </a:p>
          <a:p>
            <a:pPr algn="r" rtl="1">
              <a:buFont typeface="Arial" panose="020B0604020202020204" pitchFamily="34" charset="0"/>
              <a:buNone/>
            </a:pPr>
            <a:r>
              <a:rPr lang="ar-SA" i="1" dirty="0">
                <a:solidFill>
                  <a:srgbClr val="1F1F1F"/>
                </a:solidFill>
                <a:effectLst/>
                <a:latin typeface="Google Sans Text"/>
              </a:rPr>
              <a:t>"هذا الاكتشاف يثبت أن نموذجنا لم يتعلم فقط أرقاماً مجردة، بل رصد ظاهرة لغوية حقيقية وهي الافتقار إلى الأصالة اللغوية في الترجمة الأكاديمية للذكاء الاصطناعي"</a:t>
            </a:r>
            <a:r>
              <a:rPr lang="ar-SA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شكراً لاستماعكم — يسعدني الإجابة على أسئلتكم والمناقشة. الكود متاح كاملاً على مستودع GitHub المُوضَّح في الشريحة.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— BIG DATA ANALYTICS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TEAM PROJECT —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AI-Generated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Text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Big Data Pipeline Approach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10972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Shoag Khaleel Ibrahim Almodaifer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532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Systems  ·  Taibah University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806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TU4725067@taibahu.edu.sa  ·  Madinah, Saudi Arabia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Arabic AI-Text Detection?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under-explored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9144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RTL non-Latin script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Rich derivational morphology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diacritics ambiguity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public benchmarks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023360" cy="12344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73152" cy="12344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4068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068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papers undermine peer 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023360" cy="12344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73152" cy="12344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4068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Authenticity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4068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Journalism trust in source verification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663440"/>
            <a:ext cx="4023360" cy="12344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4663440"/>
            <a:ext cx="73152" cy="12344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4800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4068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Requires Big Data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4068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infrastructure (Hadoop / Spark)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— Taibah University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&amp; Data Acquisition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28800" cy="118872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228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28800" cy="11887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8,388 papers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wide-to-long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828800"/>
            <a:ext cx="228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28800" cy="11887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41,940 rows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Parquet/Snappy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1828800"/>
            <a:ext cx="228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720840" y="1828800"/>
            <a:ext cx="1828800" cy="1188720"/>
          </a:xfrm>
          <a:prstGeom prst="rect">
            <a:avLst/>
          </a:prstGeom>
          <a:solidFill>
            <a:srgbClr val="F9616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2084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 128 MB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114800" cy="2743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39776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Stream 9 VM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Hadoop 3.3.6 (HDFS)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3.5.0 (MLlib)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Zeppelin (EDA)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3.5.0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 / PySpark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3931920" cy="2743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474720"/>
            <a:ext cx="73152" cy="27432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(KFUPM-JRCAI)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by_polishing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2,851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434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from_title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4434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2,963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from_title_and_content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4846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2,574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5230368"/>
            <a:ext cx="35661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papers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0" y="5257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8,388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— Taibah University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PART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Arabic-Specific Preprocessing on Spark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Wide-to-Long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984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stack() expression → 41,940 (text, label)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532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52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Hamza, Alif, Ya, Ta-Marbuta variants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401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Tashkeel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7216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diacritics, Tatweel, punctuation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4270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590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ISRI-style stemmer (UDF over Spark)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80160" y="5138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5458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docs &lt; 10 tokens → 36,524 clean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1645920"/>
            <a:ext cx="2011680" cy="443484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36,524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7665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samples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3383280"/>
            <a:ext cx="128016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665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6656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Snappy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4983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11.2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76656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: AI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5715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2,992 / 33,532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— Taibah University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PART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Class-Aware Hadoop MapReduce Job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4688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46888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per-class keys: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WORD_HUMAN, WORD_AI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BIGRAM_HUMAN, BIGRAM_AI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69164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37560" y="1691640"/>
            <a:ext cx="24688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691640"/>
            <a:ext cx="246888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phase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keys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169164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4688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246888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per-class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counts; chained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extracts Hapax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corpus statistics (single MapReduce pass over 3.27M tokens)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8229600" cy="18288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(AI vs Human)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300,354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2,973,130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TTR (per-doc)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Hapax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1.68× 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bigrams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214,582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810,788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594360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0080" y="5943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AI text reuses a smaller vocabulary — 1.68× fewer one-off words than human writing.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— Taibah University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PART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Feature Engineering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12, 33, 54, 75, 96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2560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short_words_ratio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429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0.265 → AI 0.233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468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246888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2560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total_physical_lines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429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1.00 → AI 1.29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246888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0" y="2560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−33%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foreign_letters_count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3429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0.83 → AI 0.56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74520" y="416052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74520" y="4160520"/>
            <a:ext cx="265176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11680" y="4251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03320" y="4251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+64%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011680" y="4663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active_voice_count 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11680" y="5120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2.94 → AI 4.83  (novel)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416052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4160520"/>
            <a:ext cx="265176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4251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37960" y="4251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46320" y="4663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redundancy_score ★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5120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0.034 → AI 0.051  (novel)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4160520"/>
            <a:ext cx="1280160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0664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406640" y="4617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60920" y="466017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rgbClr val="F9C8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ar-SA" sz="11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 </a:t>
            </a:r>
            <a:r>
              <a:rPr lang="en-US" sz="11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   </a:t>
            </a:r>
            <a:endParaRPr lang="ar-SA" sz="1100" b="1" dirty="0">
              <a:solidFill>
                <a:srgbClr val="F9C8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(5 of 109)</a:t>
            </a:r>
          </a:p>
        </p:txBody>
      </p:sp>
      <p:sp>
        <p:nvSpPr>
          <p:cNvPr id="42" name="Text 40"/>
          <p:cNvSpPr/>
          <p:nvPr/>
        </p:nvSpPr>
        <p:spPr>
          <a:xfrm>
            <a:off x="7406640" y="5349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160520"/>
            <a:ext cx="1280160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617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</a:t>
            </a:r>
            <a:r>
              <a:rPr lang="ar-SA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457200" y="5212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5440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HashingTF + IDF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— Taibah University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PART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Modeling on Spark MLlib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3657600"/>
          </a:xfrm>
          <a:prstGeom prst="rect">
            <a:avLst/>
          </a:prstGeom>
          <a:solidFill>
            <a:srgbClr val="FFFFFF"/>
          </a:solidFill>
          <a:ln w="31750">
            <a:solidFill>
              <a:srgbClr val="F9616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51760" cy="10972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96.55%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273552"/>
            <a:ext cx="2286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96.36%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67912"/>
            <a:ext cx="2286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98.61%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462272"/>
            <a:ext cx="2286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4709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 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46120" y="182880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46120" y="1828800"/>
            <a:ext cx="2651760" cy="10972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83280" y="2057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0" y="2057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42900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91.91%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29000" y="3273552"/>
            <a:ext cx="2286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2900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2628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88.03%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29000" y="3867912"/>
            <a:ext cx="2286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2900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2628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98.16%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29000" y="4462272"/>
            <a:ext cx="2286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29000" y="4709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26280" y="4709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46.6 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35040" y="182880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35040" y="1828800"/>
            <a:ext cx="2651760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72200" y="2057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72200" y="2057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7220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 Classifier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21792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96.56%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17920" y="3273552"/>
            <a:ext cx="2286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1792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96.37%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17920" y="3867912"/>
            <a:ext cx="2286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1792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31520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98.53%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17920" y="4462272"/>
            <a:ext cx="2286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17920" y="4709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15200" y="4709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935.0 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57200" y="5669280"/>
            <a:ext cx="822960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0080" y="5669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LR wins: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indistinguishable accuracy vs GBT but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12.3× faster training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(76.1 s vs 935.0 s).  RF collapses on minority class — predicts AI for every sample.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— Taibah University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 &amp; Scalability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JSON to watched dir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trigger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consumer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PipelineModel inference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sink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semantics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4114800" cy="11887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73152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≈4.2 s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warm-state latency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5440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messages · 12 batches · &lt;300 ms inference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Cold-start: 10.2 s (model deserialization)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 in Action</a:t>
            </a:r>
            <a:endParaRPr lang="en-US" sz="16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754880" y="210312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4754880" y="4937760"/>
            <a:ext cx="4114800" cy="1188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937760" y="5029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1.60×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speedup at 2 cores 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(80% efficiency)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937760" y="5440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after 2 cores — serial fraction s ≈ 0.29.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937760" y="5715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cluster would reduce s substantially.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— Taibah University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Logistic Regression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659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96.36%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19659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98.61%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6032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19659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Precision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691640"/>
            <a:ext cx="19659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76656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Recall 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(5,326 test samples)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4114800" cy="1371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75488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(Computed from Table)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0" y="3794760"/>
            <a:ext cx="3108960" cy="32004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669280" y="3794760"/>
            <a:ext cx="304989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7607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54880" y="4251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669280" y="4297680"/>
            <a:ext cx="3108960" cy="32004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669280" y="4297680"/>
            <a:ext cx="2369028" cy="320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760720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76.2%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75488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(1:11.2) hurts Human recall — the weakest link.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— Taibah University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FINDING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Fingerprints — Distinctive Bigrams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0" cy="3657600"/>
          </a:xfrm>
          <a:prstGeom prst="rect">
            <a:avLst/>
          </a:prstGeom>
          <a:solidFill>
            <a:srgbClr val="0F1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114800" cy="10972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FINGERPRINT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متوقع ان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"expected that"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54480" y="3794760"/>
            <a:ext cx="1920240" cy="0"/>
          </a:xfrm>
          <a:prstGeom prst="line">
            <a:avLst/>
          </a:prstGeom>
          <a:noFill/>
          <a:ln w="1905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304.8×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frequent in AI than in human writing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AI-Distinctive Bigrams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194560"/>
            <a:ext cx="402336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متوقع ان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that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2194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304.8×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61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فهم عمق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2761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understanding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27614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173.4×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328416"/>
            <a:ext cx="402336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328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منهجي تحليلي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33284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methodology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332841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166.2×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8953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يظهر بحث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38953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shows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389534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165.9×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4462272"/>
            <a:ext cx="402336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4462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تدرس ورق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44622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studies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44622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163.1×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5212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top 10 are templates are Arabic renderings of stock English academic phrases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— Taibah University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Limitations &amp; Future 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91440" cy="2103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Strengths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Big Data pipeline (HDFS + Spark + Kafka)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stylometric + 10K TF-IDF features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Class-aware MapReduce in a single pass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novel discoveries (TTR, Hapax, fingerprint)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91440" cy="21031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24028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1:11.2 class imbalance  Human recall 68.4%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active-voice heuristic (no MADAMIRA)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abstracts only (not news / social)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VM (no true multi-node cluster)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91440" cy="2103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Future 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 embeddings + Word2Vec features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detection (ALLaM / Jais / Llama / OpenAI)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/ class weighting for Human recall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YARN cluster 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93192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3931920"/>
            <a:ext cx="91440" cy="2103120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Ethics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83480" y="448056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Dual-use technology is not infallible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as triage tool, not final verdict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harm honest authors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drift as new LLMs emerge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— Taibah University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200" dirty="0"/>
          </a:p>
        </p:txBody>
      </p:sp>
      <p:sp>
        <p:nvSpPr>
          <p:cNvPr id="4" name="Shape 2"/>
          <p:cNvSpPr/>
          <p:nvPr/>
        </p:nvSpPr>
        <p:spPr>
          <a:xfrm>
            <a:off x="4023360" y="3108960"/>
            <a:ext cx="1097280" cy="0"/>
          </a:xfrm>
          <a:prstGeom prst="line">
            <a:avLst/>
          </a:prstGeom>
          <a:noFill/>
          <a:ln w="254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4572000"/>
            <a:ext cx="4572000" cy="1463040"/>
          </a:xfrm>
          <a:prstGeom prst="rect">
            <a:avLst/>
          </a:prstGeom>
          <a:solidFill>
            <a:srgbClr val="0F1538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Shoag Khaleel Ibrahim Almodaifer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 ·  Big Data Analytics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Systems, Taibah University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TU4725067@taibahu.edu.sa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1817</Words>
  <Application>Microsoft Office PowerPoint</Application>
  <PresentationFormat>On-screen Show (4:3)</PresentationFormat>
  <Paragraphs>364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Google Sans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AI-Generated Arabic Text</dc:title>
  <dc:subject>MSBDA-801 Final Project — Taibah University</dc:subject>
  <dc:creator>Shoag Khaleel Ibrahim Almodaifer</dc:creator>
  <cp:lastModifiedBy>shwg 167kh</cp:lastModifiedBy>
  <cp:revision>8</cp:revision>
  <dcterms:created xsi:type="dcterms:W3CDTF">2026-05-20T07:51:44Z</dcterms:created>
  <dcterms:modified xsi:type="dcterms:W3CDTF">2026-05-20T10:41:28Z</dcterms:modified>
</cp:coreProperties>
</file>